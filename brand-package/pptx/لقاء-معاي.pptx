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uwai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"/>
            <a:ext cx="1376866" cy="594360"/>
          </a:xfrm>
          <a:prstGeom prst="rect">
            <a:avLst/>
          </a:prstGeom>
        </p:spPr>
      </p:pic>
      <p:pic>
        <p:nvPicPr>
          <p:cNvPr id="4" name="Picture 3" descr="logo-mark-1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560" y="457200"/>
            <a:ext cx="594360" cy="5943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709160" y="1965960"/>
            <a:ext cx="2743200" cy="411480"/>
          </a:xfrm>
          <a:prstGeom prst="roundRect">
            <a:avLst>
              <a:gd name="adj" fmla="val 50000"/>
            </a:avLst>
          </a:prstGeom>
          <a:solidFill>
            <a:srgbClr val="4F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916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B0D10"/>
                </a:solidFill>
                <a:latin typeface="Thmanyah Sans"/>
                <a:ea typeface="Thmanyah Sans"/>
                <a:cs typeface="Thmanyah Sans"/>
              </a:rPr>
              <a:t>أكاديمية طويق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2F4F6"/>
                </a:solidFill>
                <a:latin typeface="Thmanyah Sans"/>
                <a:ea typeface="Thmanyah Sans"/>
                <a:cs typeface="Thmanyah Sans"/>
              </a:rPr>
              <a:t>لقاء معاي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65760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A93A0"/>
                </a:solidFill>
                <a:latin typeface="Thmanyah Sans"/>
                <a:ea typeface="Thmanyah Sans"/>
                <a:cs typeface="Thmanyah Sans"/>
              </a:rPr>
              <a:t>أحمد الحربي  ·  مهندس ذكاء اصطناعي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0749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FD8C4"/>
                </a:solidFill>
                <a:latin typeface="Consolas"/>
                <a:ea typeface="Consolas"/>
                <a:cs typeface="Consolas"/>
              </a:rPr>
              <a:t>@Ahmed014x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14760" y="6419088"/>
            <a:ext cx="457200" cy="64008"/>
          </a:xfrm>
          <a:prstGeom prst="roundRect">
            <a:avLst/>
          </a:prstGeom>
          <a:solidFill>
            <a:srgbClr val="4F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231880" y="6547104"/>
            <a:ext cx="457200" cy="64008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3825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300" b="0">
                <a:solidFill>
                  <a:srgbClr val="8A93A0"/>
                </a:solidFill>
                <a:latin typeface="Thmanyah Sans"/>
                <a:ea typeface="Thmanyah Sans"/>
                <a:cs typeface="Thmanyah Sans"/>
              </a:rPr>
              <a:t>1 /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0160" y="63825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FD8C4"/>
                </a:solidFill>
                <a:latin typeface="Consolas"/>
                <a:ea typeface="Consolas"/>
                <a:cs typeface="Consolas"/>
              </a:rPr>
              <a:t>@Ahmed014x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uwai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2608"/>
            <a:ext cx="1059128" cy="457200"/>
          </a:xfrm>
          <a:prstGeom prst="rect">
            <a:avLst/>
          </a:prstGeom>
        </p:spPr>
      </p:pic>
      <p:pic>
        <p:nvPicPr>
          <p:cNvPr id="4" name="Picture 3" descr="logo-mark-1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880" y="292608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0584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600" b="1">
                <a:solidFill>
                  <a:srgbClr val="4FD8C4"/>
                </a:solidFill>
                <a:latin typeface="Thmanyah Sans"/>
                <a:ea typeface="Thmanyah Sans"/>
                <a:cs typeface="Thmanyah Sans"/>
              </a:rPr>
              <a:t>01  ·  وش بنغطي؟</a:t>
            </a:r>
          </a:p>
          <a:p>
            <a:pPr rtl="1" algn="r">
              <a:spcAft>
                <a:spcPts val="800"/>
              </a:spcAft>
            </a:pPr>
            <a:r>
              <a:rPr sz="3600" b="1">
                <a:solidFill>
                  <a:srgbClr val="F2F4F6"/>
                </a:solidFill>
                <a:latin typeface="Thmanyah Sans"/>
                <a:ea typeface="Thmanyah Sans"/>
                <a:cs typeface="Thmanyah Sans"/>
              </a:rPr>
              <a:t>أجندة اللقاء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17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81360" y="2157984"/>
            <a:ext cx="347472" cy="347472"/>
          </a:xfrm>
          <a:prstGeom prst="ellipse">
            <a:avLst/>
          </a:prstGeom>
          <a:solidFill>
            <a:srgbClr val="4F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2185416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0D10"/>
                </a:solidFill>
                <a:latin typeface="Thmanyah Sans"/>
                <a:ea typeface="Thmanyah Sans"/>
                <a:cs typeface="Thmanyah Sa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9692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700" b="0">
                <a:solidFill>
                  <a:srgbClr val="F2F4F6"/>
                </a:solidFill>
                <a:latin typeface="Thmanyah Sans"/>
                <a:ea typeface="Thmanyah Sans"/>
                <a:cs typeface="Thmanyah Sans"/>
              </a:rPr>
              <a:t>من أنا؟  —  تعريف سريع بالمسار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9748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17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881360" y="2798064"/>
            <a:ext cx="347472" cy="347472"/>
          </a:xfrm>
          <a:prstGeom prst="ellipse">
            <a:avLst/>
          </a:prstGeom>
          <a:solidFill>
            <a:srgbClr val="4F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0" y="2825496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0D10"/>
                </a:solidFill>
                <a:latin typeface="Thmanyah Sans"/>
                <a:ea typeface="Thmanyah Sans"/>
                <a:cs typeface="Thmanyah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743200"/>
            <a:ext cx="9692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700" b="0">
                <a:solidFill>
                  <a:srgbClr val="F2F4F6"/>
                </a:solidFill>
                <a:latin typeface="Thmanyah Sans"/>
                <a:ea typeface="Thmanyah Sans"/>
                <a:cs typeface="Thmanyah Sans"/>
              </a:rPr>
              <a:t>التعليم  —  جامعة تبوك · كاوست · طويق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3756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17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881360" y="3438144"/>
            <a:ext cx="347472" cy="347472"/>
          </a:xfrm>
          <a:prstGeom prst="ellipse">
            <a:avLst/>
          </a:prstGeom>
          <a:solidFill>
            <a:srgbClr val="4F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81360" y="3465576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0D10"/>
                </a:solidFill>
                <a:latin typeface="Thmanyah Sans"/>
                <a:ea typeface="Thmanyah Sans"/>
                <a:cs typeface="Thmanyah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83280"/>
            <a:ext cx="9692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700" b="0">
                <a:solidFill>
                  <a:srgbClr val="F2F4F6"/>
                </a:solidFill>
                <a:latin typeface="Thmanyah Sans"/>
                <a:ea typeface="Thmanyah Sans"/>
                <a:cs typeface="Thmanyah Sans"/>
              </a:rPr>
              <a:t>التجربة  —  حضانات وتدريب عملي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77639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17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81360" y="4078223"/>
            <a:ext cx="347472" cy="347472"/>
          </a:xfrm>
          <a:prstGeom prst="ellipse">
            <a:avLst/>
          </a:prstGeom>
          <a:solidFill>
            <a:srgbClr val="4F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81360" y="4105655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0D10"/>
                </a:solidFill>
                <a:latin typeface="Thmanyah Sans"/>
                <a:ea typeface="Thmanyah Sans"/>
                <a:cs typeface="Thmanyah San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023359"/>
            <a:ext cx="9692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700" b="0">
                <a:solidFill>
                  <a:srgbClr val="F2F4F6"/>
                </a:solidFill>
                <a:latin typeface="Thmanyah Sans"/>
                <a:ea typeface="Thmanyah Sans"/>
                <a:cs typeface="Thmanyah Sans"/>
              </a:rPr>
              <a:t>المشاريع  —  حلول ذكاء اصطناعي على أرض الواقع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61772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17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881360" y="4718304"/>
            <a:ext cx="347472" cy="347472"/>
          </a:xfrm>
          <a:prstGeom prst="ellipse">
            <a:avLst/>
          </a:prstGeom>
          <a:solidFill>
            <a:srgbClr val="4F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360" y="4745736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0D10"/>
                </a:solidFill>
                <a:latin typeface="Thmanyah Sans"/>
                <a:ea typeface="Thmanyah Sans"/>
                <a:cs typeface="Thmanyah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663440"/>
            <a:ext cx="9692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700" b="0">
                <a:solidFill>
                  <a:srgbClr val="F2F4F6"/>
                </a:solidFill>
                <a:latin typeface="Thmanyah Sans"/>
                <a:ea typeface="Thmanyah Sans"/>
                <a:cs typeface="Thmanyah Sans"/>
              </a:rPr>
              <a:t>تواصل  —  وين تلاقوني بعد اللقاء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14760" y="6419088"/>
            <a:ext cx="457200" cy="64008"/>
          </a:xfrm>
          <a:prstGeom prst="roundRect">
            <a:avLst/>
          </a:prstGeom>
          <a:solidFill>
            <a:srgbClr val="4F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1231880" y="6547104"/>
            <a:ext cx="457200" cy="64008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3825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300" b="0">
                <a:solidFill>
                  <a:srgbClr val="8A93A0"/>
                </a:solidFill>
                <a:latin typeface="Thmanyah Sans"/>
                <a:ea typeface="Thmanyah Sans"/>
                <a:cs typeface="Thmanyah Sans"/>
              </a:rPr>
              <a:t>2 / 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90160" y="63825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FD8C4"/>
                </a:solidFill>
                <a:latin typeface="Consolas"/>
                <a:ea typeface="Consolas"/>
                <a:cs typeface="Consolas"/>
              </a:rPr>
              <a:t>@Ahmed014x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uwai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2608"/>
            <a:ext cx="1059128" cy="457200"/>
          </a:xfrm>
          <a:prstGeom prst="rect">
            <a:avLst/>
          </a:prstGeom>
        </p:spPr>
      </p:pic>
      <p:pic>
        <p:nvPicPr>
          <p:cNvPr id="4" name="Picture 3" descr="logo-mark-1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880" y="292608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0584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600" b="1">
                <a:solidFill>
                  <a:srgbClr val="4FD8C4"/>
                </a:solidFill>
                <a:latin typeface="Thmanyah Sans"/>
                <a:ea typeface="Thmanyah Sans"/>
                <a:cs typeface="Thmanyah Sans"/>
              </a:rPr>
              <a:t>02  ·  من أنا؟</a:t>
            </a:r>
          </a:p>
          <a:p>
            <a:pPr rtl="1" algn="r">
              <a:spcAft>
                <a:spcPts val="800"/>
              </a:spcAft>
            </a:pPr>
            <a:r>
              <a:rPr sz="3600" b="1">
                <a:solidFill>
                  <a:srgbClr val="F2F4F6"/>
                </a:solidFill>
                <a:latin typeface="Thmanyah Sans"/>
                <a:ea typeface="Thmanyah Sans"/>
                <a:cs typeface="Thmanyah Sans"/>
              </a:rPr>
              <a:t>أحمد الحربي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2000" b="0">
                <a:solidFill>
                  <a:srgbClr val="F2F4F6"/>
                </a:solidFill>
                <a:latin typeface="Thmanyah Sans"/>
                <a:ea typeface="Thmanyah Sans"/>
                <a:cs typeface="Thmanyah Sans"/>
              </a:rPr>
              <a:t>مهندس ذكاء اصطناعي — أركّز على تشغيل الذكاء الاصطناعي في الواقع.</a:t>
            </a:r>
          </a:p>
          <a:p>
            <a:pPr rtl="1" algn="r">
              <a:spcAft>
                <a:spcPts val="800"/>
              </a:spcAft>
            </a:pPr>
            <a:r>
              <a:rPr sz="1800" b="0">
                <a:solidFill>
                  <a:srgbClr val="8A93A0"/>
                </a:solidFill>
                <a:latin typeface="Thmanyah Sans"/>
                <a:ea typeface="Thmanyah Sans"/>
                <a:cs typeface="Thmanyah Sans"/>
              </a:rPr>
              <a:t>أربط النماذج اللغوية بالأنظمة الحيّة، أبني رؤية حاسوبية يُعتمد عليها،</a:t>
            </a:r>
          </a:p>
          <a:p>
            <a:pPr rtl="1" algn="r">
              <a:spcAft>
                <a:spcPts val="800"/>
              </a:spcAft>
            </a:pPr>
            <a:r>
              <a:rPr sz="1800" b="0">
                <a:solidFill>
                  <a:srgbClr val="8A93A0"/>
                </a:solidFill>
                <a:latin typeface="Thmanyah Sans"/>
                <a:ea typeface="Thmanyah Sans"/>
                <a:cs typeface="Thmanyah Sans"/>
              </a:rPr>
              <a:t>وأشغّل أتمتة تقودها البيانات من أول إدخال لين الإنتاج.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9476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7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4FD8C4"/>
                </a:solidFill>
                <a:latin typeface="Thmanyah Sans"/>
                <a:ea typeface="Thmanyah Sans"/>
                <a:cs typeface="Thmanyah Sans"/>
              </a:rPr>
              <a:t>4.50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09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8A93A0"/>
                </a:solidFill>
                <a:latin typeface="Thmanyah Sans"/>
                <a:ea typeface="Thmanyah Sans"/>
                <a:cs typeface="Thmanyah Sans"/>
              </a:rPr>
              <a:t>معدلي من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379476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7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40233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4FD8C4"/>
                </a:solidFill>
                <a:latin typeface="Thmanyah Sans"/>
                <a:ea typeface="Thmanyah Sans"/>
                <a:cs typeface="Thmanyah Sans"/>
              </a:rPr>
              <a:t>8+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4709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8A93A0"/>
                </a:solidFill>
                <a:latin typeface="Thmanyah Sans"/>
                <a:ea typeface="Thmanyah Sans"/>
                <a:cs typeface="Thmanyah Sans"/>
              </a:rPr>
              <a:t>مشاريع جاهزة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79476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7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40233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4FD8C4"/>
                </a:solidFill>
                <a:latin typeface="Thmanyah Sans"/>
                <a:ea typeface="Thmanyah Sans"/>
                <a:cs typeface="Thmanyah Sans"/>
              </a:rPr>
              <a:t>8+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709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8A93A0"/>
                </a:solidFill>
                <a:latin typeface="Thmanyah Sans"/>
                <a:ea typeface="Thmanyah Sans"/>
                <a:cs typeface="Thmanyah Sans"/>
              </a:rPr>
              <a:t>الجوائز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379476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7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40233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4FD8C4"/>
                </a:solidFill>
                <a:latin typeface="Thmanyah Sans"/>
                <a:ea typeface="Thmanyah Sans"/>
                <a:cs typeface="Thmanyah Sans"/>
              </a:rPr>
              <a:t>700+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709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8A93A0"/>
                </a:solidFill>
                <a:latin typeface="Thmanyah Sans"/>
                <a:ea typeface="Thmanyah Sans"/>
                <a:cs typeface="Thmanyah Sans"/>
              </a:rPr>
              <a:t>ساعات تطوع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14760" y="6419088"/>
            <a:ext cx="457200" cy="64008"/>
          </a:xfrm>
          <a:prstGeom prst="roundRect">
            <a:avLst/>
          </a:prstGeom>
          <a:solidFill>
            <a:srgbClr val="4F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231880" y="6547104"/>
            <a:ext cx="457200" cy="64008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3825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300" b="0">
                <a:solidFill>
                  <a:srgbClr val="8A93A0"/>
                </a:solidFill>
                <a:latin typeface="Thmanyah Sans"/>
                <a:ea typeface="Thmanyah Sans"/>
                <a:cs typeface="Thmanyah Sans"/>
              </a:rPr>
              <a:t>3 /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0160" y="63825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FD8C4"/>
                </a:solidFill>
                <a:latin typeface="Consolas"/>
                <a:ea typeface="Consolas"/>
                <a:cs typeface="Consolas"/>
              </a:rPr>
              <a:t>@Ahmed014x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uwai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2608"/>
            <a:ext cx="1059128" cy="457200"/>
          </a:xfrm>
          <a:prstGeom prst="rect">
            <a:avLst/>
          </a:prstGeom>
        </p:spPr>
      </p:pic>
      <p:pic>
        <p:nvPicPr>
          <p:cNvPr id="4" name="Picture 3" descr="logo-mark-1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880" y="292608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0584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600" b="1">
                <a:solidFill>
                  <a:srgbClr val="4FD8C4"/>
                </a:solidFill>
                <a:latin typeface="Thmanyah Sans"/>
                <a:ea typeface="Thmanyah Sans"/>
                <a:cs typeface="Thmanyah Sans"/>
              </a:rPr>
              <a:t>03  ·  التعليم</a:t>
            </a:r>
          </a:p>
          <a:p>
            <a:pPr rtl="1" algn="r">
              <a:spcAft>
                <a:spcPts val="800"/>
              </a:spcAft>
            </a:pPr>
            <a:r>
              <a:rPr sz="3600" b="1">
                <a:solidFill>
                  <a:srgbClr val="F2F4F6"/>
                </a:solidFill>
                <a:latin typeface="Thmanyah Sans"/>
                <a:ea typeface="Thmanyah Sans"/>
                <a:cs typeface="Thmanyah Sans"/>
              </a:rPr>
              <a:t>المسار الأكاديمي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881360" cy="960120"/>
          </a:xfrm>
          <a:prstGeom prst="roundRect">
            <a:avLst>
              <a:gd name="adj" fmla="val 10000"/>
            </a:avLst>
          </a:prstGeom>
          <a:solidFill>
            <a:srgbClr val="17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338560" y="2240280"/>
            <a:ext cx="64008" cy="594360"/>
          </a:xfrm>
          <a:prstGeom prst="rect">
            <a:avLst/>
          </a:prstGeom>
          <a:solidFill>
            <a:srgbClr val="4F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67128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600" b="1">
                <a:solidFill>
                  <a:srgbClr val="4FD8C4"/>
                </a:solidFill>
                <a:latin typeface="Thmanyah Sans"/>
                <a:ea typeface="Thmanyah Sans"/>
                <a:cs typeface="Thmanyah Sans"/>
              </a:rPr>
              <a:t>أكاديمية طويق</a:t>
            </a:r>
          </a:p>
          <a:p>
            <a:pPr rtl="1" algn="r">
              <a:spcAft>
                <a:spcPts val="800"/>
              </a:spcAft>
            </a:pPr>
            <a:r>
              <a:rPr sz="1800" b="1">
                <a:solidFill>
                  <a:srgbClr val="F2F4F6"/>
                </a:solidFill>
                <a:latin typeface="Thmanyah Sans"/>
                <a:ea typeface="Thmanyah Sans"/>
                <a:cs typeface="Thmanyah Sans"/>
              </a:rPr>
              <a:t>معسكر علوم البيانات والذكاء الاصطناعي</a:t>
            </a:r>
          </a:p>
          <a:p>
            <a:pPr rtl="1" algn="r">
              <a:spcAft>
                <a:spcPts val="800"/>
              </a:spcAft>
            </a:pPr>
            <a:r>
              <a:rPr sz="1300" b="0">
                <a:solidFill>
                  <a:srgbClr val="8A93A0"/>
                </a:solidFill>
                <a:latin typeface="Thmanyah Sans"/>
                <a:ea typeface="Thmanyah Sans"/>
                <a:cs typeface="Thmanyah Sans"/>
              </a:rPr>
              <a:t>أكتوبر — ديسمبر 2025 · بيانات · تعلم عميق · 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54680"/>
            <a:ext cx="10881360" cy="960120"/>
          </a:xfrm>
          <a:prstGeom prst="roundRect">
            <a:avLst>
              <a:gd name="adj" fmla="val 10000"/>
            </a:avLst>
          </a:prstGeom>
          <a:solidFill>
            <a:srgbClr val="17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338560" y="3337560"/>
            <a:ext cx="64008" cy="594360"/>
          </a:xfrm>
          <a:prstGeom prst="rect">
            <a:avLst/>
          </a:prstGeom>
          <a:solidFill>
            <a:srgbClr val="4F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64408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600" b="1">
                <a:solidFill>
                  <a:srgbClr val="4FD8C4"/>
                </a:solidFill>
                <a:latin typeface="Thmanyah Sans"/>
                <a:ea typeface="Thmanyah Sans"/>
                <a:cs typeface="Thmanyah Sans"/>
              </a:rPr>
              <a:t>كاوست</a:t>
            </a:r>
          </a:p>
          <a:p>
            <a:pPr rtl="1" algn="r">
              <a:spcAft>
                <a:spcPts val="800"/>
              </a:spcAft>
            </a:pPr>
            <a:r>
              <a:rPr sz="1800" b="1">
                <a:solidFill>
                  <a:srgbClr val="F2F4F6"/>
                </a:solidFill>
                <a:latin typeface="Thmanyah Sans"/>
                <a:ea typeface="Thmanyah Sans"/>
                <a:cs typeface="Thmanyah Sans"/>
              </a:rPr>
              <a:t>زمالة تخصص ذكاء اصطناعي</a:t>
            </a:r>
          </a:p>
          <a:p>
            <a:pPr rtl="1" algn="r">
              <a:spcAft>
                <a:spcPts val="800"/>
              </a:spcAft>
            </a:pPr>
            <a:r>
              <a:rPr sz="1300" b="0">
                <a:solidFill>
                  <a:srgbClr val="8A93A0"/>
                </a:solidFill>
                <a:latin typeface="Thmanyah Sans"/>
                <a:ea typeface="Thmanyah Sans"/>
                <a:cs typeface="Thmanyah Sans"/>
              </a:rPr>
              <a:t>أكتوبر 2024 — يناير 2025 · خوارزميات · NLP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51960"/>
            <a:ext cx="10881360" cy="960120"/>
          </a:xfrm>
          <a:prstGeom prst="roundRect">
            <a:avLst>
              <a:gd name="adj" fmla="val 10000"/>
            </a:avLst>
          </a:prstGeom>
          <a:solidFill>
            <a:srgbClr val="17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338560" y="4434840"/>
            <a:ext cx="64008" cy="594360"/>
          </a:xfrm>
          <a:prstGeom prst="rect">
            <a:avLst/>
          </a:prstGeom>
          <a:solidFill>
            <a:srgbClr val="4F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361688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600" b="1">
                <a:solidFill>
                  <a:srgbClr val="4FD8C4"/>
                </a:solidFill>
                <a:latin typeface="Thmanyah Sans"/>
                <a:ea typeface="Thmanyah Sans"/>
                <a:cs typeface="Thmanyah Sans"/>
              </a:rPr>
              <a:t>جامعة تبوك</a:t>
            </a:r>
          </a:p>
          <a:p>
            <a:pPr rtl="1" algn="r">
              <a:spcAft>
                <a:spcPts val="800"/>
              </a:spcAft>
            </a:pPr>
            <a:r>
              <a:rPr sz="1800" b="1">
                <a:solidFill>
                  <a:srgbClr val="F2F4F6"/>
                </a:solidFill>
                <a:latin typeface="Thmanyah Sans"/>
                <a:ea typeface="Thmanyah Sans"/>
                <a:cs typeface="Thmanyah Sans"/>
              </a:rPr>
              <a:t>بكالوريوس علوم حاسب · معدلي 4.50 من 5</a:t>
            </a:r>
          </a:p>
          <a:p>
            <a:pPr rtl="1" algn="r">
              <a:spcAft>
                <a:spcPts val="800"/>
              </a:spcAft>
            </a:pPr>
            <a:r>
              <a:rPr sz="1300" b="0">
                <a:solidFill>
                  <a:srgbClr val="8A93A0"/>
                </a:solidFill>
                <a:latin typeface="Thmanyah Sans"/>
                <a:ea typeface="Thmanyah Sans"/>
                <a:cs typeface="Thmanyah Sans"/>
              </a:rPr>
              <a:t>تخرّجت 2025 · أساس قوي + مشاريع عملية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14760" y="6419088"/>
            <a:ext cx="457200" cy="64008"/>
          </a:xfrm>
          <a:prstGeom prst="roundRect">
            <a:avLst/>
          </a:prstGeom>
          <a:solidFill>
            <a:srgbClr val="4F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231880" y="6547104"/>
            <a:ext cx="457200" cy="64008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3825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300" b="0">
                <a:solidFill>
                  <a:srgbClr val="8A93A0"/>
                </a:solidFill>
                <a:latin typeface="Thmanyah Sans"/>
                <a:ea typeface="Thmanyah Sans"/>
                <a:cs typeface="Thmanyah Sans"/>
              </a:rPr>
              <a:t>4 /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0160" y="63825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FD8C4"/>
                </a:solidFill>
                <a:latin typeface="Consolas"/>
                <a:ea typeface="Consolas"/>
                <a:cs typeface="Consolas"/>
              </a:rPr>
              <a:t>@Ahmed014x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uwai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2608"/>
            <a:ext cx="1059128" cy="457200"/>
          </a:xfrm>
          <a:prstGeom prst="rect">
            <a:avLst/>
          </a:prstGeom>
        </p:spPr>
      </p:pic>
      <p:pic>
        <p:nvPicPr>
          <p:cNvPr id="4" name="Picture 3" descr="logo-mark-1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880" y="292608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0584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600" b="1">
                <a:solidFill>
                  <a:srgbClr val="4FD8C4"/>
                </a:solidFill>
                <a:latin typeface="Thmanyah Sans"/>
                <a:ea typeface="Thmanyah Sans"/>
                <a:cs typeface="Thmanyah Sans"/>
              </a:rPr>
              <a:t>04  ·  التجربة</a:t>
            </a:r>
          </a:p>
          <a:p>
            <a:pPr rtl="1" algn="r">
              <a:spcAft>
                <a:spcPts val="800"/>
              </a:spcAft>
            </a:pPr>
            <a:r>
              <a:rPr sz="3600" b="1">
                <a:solidFill>
                  <a:srgbClr val="F2F4F6"/>
                </a:solidFill>
                <a:latin typeface="Thmanyah Sans"/>
                <a:ea typeface="Thmanyah Sans"/>
                <a:cs typeface="Thmanyah Sans"/>
              </a:rPr>
              <a:t>وين اشتغلت؟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881360" cy="960120"/>
          </a:xfrm>
          <a:prstGeom prst="roundRect">
            <a:avLst>
              <a:gd name="adj" fmla="val 10000"/>
            </a:avLst>
          </a:prstGeom>
          <a:solidFill>
            <a:srgbClr val="17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338560" y="2240280"/>
            <a:ext cx="64008" cy="594360"/>
          </a:xfrm>
          <a:prstGeom prst="rect">
            <a:avLst/>
          </a:prstGeom>
          <a:solidFill>
            <a:srgbClr val="4F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67128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600" b="1">
                <a:solidFill>
                  <a:srgbClr val="4FD8C4"/>
                </a:solidFill>
                <a:latin typeface="Thmanyah Sans"/>
                <a:ea typeface="Thmanyah Sans"/>
                <a:cs typeface="Thmanyah Sans"/>
              </a:rPr>
              <a:t>الكراج | The Garage</a:t>
            </a:r>
          </a:p>
          <a:p>
            <a:pPr rtl="1" algn="r">
              <a:spcAft>
                <a:spcPts val="800"/>
              </a:spcAft>
            </a:pPr>
            <a:r>
              <a:rPr sz="1800" b="1">
                <a:solidFill>
                  <a:srgbClr val="F2F4F6"/>
                </a:solidFill>
                <a:latin typeface="Thmanyah Sans"/>
                <a:ea typeface="Thmanyah Sans"/>
                <a:cs typeface="Thmanyah Sans"/>
              </a:rPr>
              <a:t>برنامج حضانة الكراج</a:t>
            </a:r>
          </a:p>
          <a:p>
            <a:pPr rtl="1" algn="r">
              <a:spcAft>
                <a:spcPts val="800"/>
              </a:spcAft>
            </a:pPr>
            <a:r>
              <a:rPr sz="1300" b="0">
                <a:solidFill>
                  <a:srgbClr val="8A93A0"/>
                </a:solidFill>
                <a:latin typeface="Thmanyah Sans"/>
                <a:ea typeface="Thmanyah Sans"/>
                <a:cs typeface="Thmanyah Sans"/>
              </a:rPr>
              <a:t>فبراير 2026 — الحين · منصّة درون ومسارات ذكاء اصطناعي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54680"/>
            <a:ext cx="10881360" cy="960120"/>
          </a:xfrm>
          <a:prstGeom prst="roundRect">
            <a:avLst>
              <a:gd name="adj" fmla="val 10000"/>
            </a:avLst>
          </a:prstGeom>
          <a:solidFill>
            <a:srgbClr val="17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338560" y="3337560"/>
            <a:ext cx="64008" cy="594360"/>
          </a:xfrm>
          <a:prstGeom prst="rect">
            <a:avLst/>
          </a:prstGeom>
          <a:solidFill>
            <a:srgbClr val="4F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64408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600" b="1">
                <a:solidFill>
                  <a:srgbClr val="4FD8C4"/>
                </a:solidFill>
                <a:latin typeface="Thmanyah Sans"/>
                <a:ea typeface="Thmanyah Sans"/>
                <a:cs typeface="Thmanyah Sans"/>
              </a:rPr>
              <a:t>Savvy Games</a:t>
            </a:r>
          </a:p>
          <a:p>
            <a:pPr rtl="1" algn="r">
              <a:spcAft>
                <a:spcPts val="800"/>
              </a:spcAft>
            </a:pPr>
            <a:r>
              <a:rPr sz="1800" b="1">
                <a:solidFill>
                  <a:srgbClr val="F2F4F6"/>
                </a:solidFill>
                <a:latin typeface="Thmanyah Sans"/>
                <a:ea typeface="Thmanyah Sans"/>
                <a:cs typeface="Thmanyah Sans"/>
              </a:rPr>
              <a:t>برنامج حضانة Savvy</a:t>
            </a:r>
          </a:p>
          <a:p>
            <a:pPr rtl="1" algn="r">
              <a:spcAft>
                <a:spcPts val="800"/>
              </a:spcAft>
            </a:pPr>
            <a:r>
              <a:rPr sz="1300" b="0">
                <a:solidFill>
                  <a:srgbClr val="8A93A0"/>
                </a:solidFill>
                <a:latin typeface="Thmanyah Sans"/>
                <a:ea typeface="Thmanyah Sans"/>
                <a:cs typeface="Thmanyah Sans"/>
              </a:rPr>
              <a:t>سبتمبر — ديسمبر 2025 · تكامل تقني · لعبة Guardians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51960"/>
            <a:ext cx="10881360" cy="960120"/>
          </a:xfrm>
          <a:prstGeom prst="roundRect">
            <a:avLst>
              <a:gd name="adj" fmla="val 10000"/>
            </a:avLst>
          </a:prstGeom>
          <a:solidFill>
            <a:srgbClr val="17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338560" y="4434840"/>
            <a:ext cx="64008" cy="594360"/>
          </a:xfrm>
          <a:prstGeom prst="rect">
            <a:avLst/>
          </a:prstGeom>
          <a:solidFill>
            <a:srgbClr val="4F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361688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600" b="1">
                <a:solidFill>
                  <a:srgbClr val="4FD8C4"/>
                </a:solidFill>
                <a:latin typeface="Thmanyah Sans"/>
                <a:ea typeface="Thmanyah Sans"/>
                <a:cs typeface="Thmanyah Sans"/>
              </a:rPr>
              <a:t>وزارة الصحة</a:t>
            </a:r>
          </a:p>
          <a:p>
            <a:pPr rtl="1" algn="r">
              <a:spcAft>
                <a:spcPts val="800"/>
              </a:spcAft>
            </a:pPr>
            <a:r>
              <a:rPr sz="1800" b="1">
                <a:solidFill>
                  <a:srgbClr val="F2F4F6"/>
                </a:solidFill>
                <a:latin typeface="Thmanyah Sans"/>
                <a:ea typeface="Thmanyah Sans"/>
                <a:cs typeface="Thmanyah Sans"/>
              </a:rPr>
              <a:t>أخصائي ذكاء اصطناعي (متدرب)</a:t>
            </a:r>
          </a:p>
          <a:p>
            <a:pPr rtl="1" algn="r">
              <a:spcAft>
                <a:spcPts val="800"/>
              </a:spcAft>
            </a:pPr>
            <a:r>
              <a:rPr sz="1300" b="0">
                <a:solidFill>
                  <a:srgbClr val="8A93A0"/>
                </a:solidFill>
                <a:latin typeface="Thmanyah Sans"/>
                <a:ea typeface="Thmanyah Sans"/>
                <a:cs typeface="Thmanyah Sans"/>
              </a:rPr>
              <a:t>يونيو — أغسطس 2024 · تصوير طبي وسجلات صحية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14760" y="6419088"/>
            <a:ext cx="457200" cy="64008"/>
          </a:xfrm>
          <a:prstGeom prst="roundRect">
            <a:avLst/>
          </a:prstGeom>
          <a:solidFill>
            <a:srgbClr val="4F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231880" y="6547104"/>
            <a:ext cx="457200" cy="64008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3825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300" b="0">
                <a:solidFill>
                  <a:srgbClr val="8A93A0"/>
                </a:solidFill>
                <a:latin typeface="Thmanyah Sans"/>
                <a:ea typeface="Thmanyah Sans"/>
                <a:cs typeface="Thmanyah Sans"/>
              </a:rPr>
              <a:t>5 /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0160" y="63825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FD8C4"/>
                </a:solidFill>
                <a:latin typeface="Consolas"/>
                <a:ea typeface="Consolas"/>
                <a:cs typeface="Consolas"/>
              </a:rPr>
              <a:t>@Ahmed014x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uwai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2608"/>
            <a:ext cx="1059128" cy="457200"/>
          </a:xfrm>
          <a:prstGeom prst="rect">
            <a:avLst/>
          </a:prstGeom>
        </p:spPr>
      </p:pic>
      <p:pic>
        <p:nvPicPr>
          <p:cNvPr id="4" name="Picture 3" descr="logo-mark-1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880" y="292608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0584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600" b="1">
                <a:solidFill>
                  <a:srgbClr val="4FD8C4"/>
                </a:solidFill>
                <a:latin typeface="Thmanyah Sans"/>
                <a:ea typeface="Thmanyah Sans"/>
                <a:cs typeface="Thmanyah Sans"/>
              </a:rPr>
              <a:t>05  ·  التركيز</a:t>
            </a:r>
          </a:p>
          <a:p>
            <a:pPr rtl="1" algn="r">
              <a:spcAft>
                <a:spcPts val="800"/>
              </a:spcAft>
            </a:pPr>
            <a:r>
              <a:rPr sz="3600" b="1">
                <a:solidFill>
                  <a:srgbClr val="F2F4F6"/>
                </a:solidFill>
                <a:latin typeface="Thmanyah Sans"/>
                <a:ea typeface="Thmanyah Sans"/>
                <a:cs typeface="Thmanyah Sans"/>
              </a:rPr>
              <a:t>وش أسوي؟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394960" cy="1463040"/>
          </a:xfrm>
          <a:prstGeom prst="roundRect">
            <a:avLst>
              <a:gd name="adj" fmla="val 10000"/>
            </a:avLst>
          </a:prstGeom>
          <a:solidFill>
            <a:srgbClr val="17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359152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2000" b="1">
                <a:solidFill>
                  <a:srgbClr val="4FD8C4"/>
                </a:solidFill>
                <a:latin typeface="Thmanyah Sans"/>
                <a:ea typeface="Thmanyah Sans"/>
                <a:cs typeface="Thmanyah Sans"/>
              </a:rPr>
              <a:t>نماذج لغوية كبيرة</a:t>
            </a:r>
          </a:p>
          <a:p>
            <a:pPr rtl="1" algn="r">
              <a:spcAft>
                <a:spcPts val="800"/>
              </a:spcAft>
            </a:pPr>
            <a:r>
              <a:rPr sz="1500" b="0">
                <a:solidFill>
                  <a:srgbClr val="8A93A0"/>
                </a:solidFill>
                <a:latin typeface="Thmanyah Sans"/>
                <a:ea typeface="Thmanyah Sans"/>
                <a:cs typeface="Thmanyah Sans"/>
              </a:rPr>
              <a:t>أربط LLM بمسارات العمل والأنظمة الحيّة عبر واجهات واضحة.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103120"/>
            <a:ext cx="5394960" cy="1463040"/>
          </a:xfrm>
          <a:prstGeom prst="roundRect">
            <a:avLst>
              <a:gd name="adj" fmla="val 10000"/>
            </a:avLst>
          </a:prstGeom>
          <a:solidFill>
            <a:srgbClr val="17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2359152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2000" b="1">
                <a:solidFill>
                  <a:srgbClr val="4FD8C4"/>
                </a:solidFill>
                <a:latin typeface="Thmanyah Sans"/>
                <a:ea typeface="Thmanyah Sans"/>
                <a:cs typeface="Thmanyah Sans"/>
              </a:rPr>
              <a:t>رؤية حاسوبية</a:t>
            </a:r>
          </a:p>
          <a:p>
            <a:pPr rtl="1" algn="r">
              <a:spcAft>
                <a:spcPts val="800"/>
              </a:spcAft>
            </a:pPr>
            <a:r>
              <a:rPr sz="1500" b="0">
                <a:solidFill>
                  <a:srgbClr val="8A93A0"/>
                </a:solidFill>
                <a:latin typeface="Thmanyah Sans"/>
                <a:ea typeface="Thmanyah Sans"/>
                <a:cs typeface="Thmanyah Sans"/>
              </a:rPr>
              <a:t>حلول وضعية وكشف أهداف قابلة للاعتماد في الاستخدام الحقيقي.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49040"/>
            <a:ext cx="5394960" cy="1463040"/>
          </a:xfrm>
          <a:prstGeom prst="roundRect">
            <a:avLst>
              <a:gd name="adj" fmla="val 10000"/>
            </a:avLst>
          </a:prstGeom>
          <a:solidFill>
            <a:srgbClr val="17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005072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2000" b="1">
                <a:solidFill>
                  <a:srgbClr val="4FD8C4"/>
                </a:solidFill>
                <a:latin typeface="Thmanyah Sans"/>
                <a:ea typeface="Thmanyah Sans"/>
                <a:cs typeface="Thmanyah Sans"/>
              </a:rPr>
              <a:t>أتمتة وبيانات</a:t>
            </a:r>
          </a:p>
          <a:p>
            <a:pPr rtl="1" algn="r">
              <a:spcAft>
                <a:spcPts val="800"/>
              </a:spcAft>
            </a:pPr>
            <a:r>
              <a:rPr sz="1500" b="0">
                <a:solidFill>
                  <a:srgbClr val="8A93A0"/>
                </a:solidFill>
                <a:latin typeface="Thmanyah Sans"/>
                <a:ea typeface="Thmanyah Sans"/>
                <a:cs typeface="Thmanyah Sans"/>
              </a:rPr>
              <a:t>خطوط أنابيب من الإدخال لين الإنتاج — أسرع وأدق وأقل خطأ.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749040"/>
            <a:ext cx="5394960" cy="1463040"/>
          </a:xfrm>
          <a:prstGeom prst="roundRect">
            <a:avLst>
              <a:gd name="adj" fmla="val 10000"/>
            </a:avLst>
          </a:prstGeom>
          <a:solidFill>
            <a:srgbClr val="17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4005072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2000" b="1">
                <a:solidFill>
                  <a:srgbClr val="4FD8C4"/>
                </a:solidFill>
                <a:latin typeface="Thmanyah Sans"/>
                <a:ea typeface="Thmanyah Sans"/>
                <a:cs typeface="Thmanyah Sans"/>
              </a:rPr>
              <a:t>منتج وهوية</a:t>
            </a:r>
          </a:p>
          <a:p>
            <a:pPr rtl="1" algn="r">
              <a:spcAft>
                <a:spcPts val="800"/>
              </a:spcAft>
            </a:pPr>
            <a:r>
              <a:rPr sz="1500" b="0">
                <a:solidFill>
                  <a:srgbClr val="8A93A0"/>
                </a:solidFill>
                <a:latin typeface="Thmanyah Sans"/>
                <a:ea typeface="Thmanyah Sans"/>
                <a:cs typeface="Thmanyah Sans"/>
              </a:rPr>
              <a:t>أبني تجربة وتصميم متماسك مع التقنية — مو بس موديل.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14760" y="6419088"/>
            <a:ext cx="457200" cy="64008"/>
          </a:xfrm>
          <a:prstGeom prst="roundRect">
            <a:avLst/>
          </a:prstGeom>
          <a:solidFill>
            <a:srgbClr val="4F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231880" y="6547104"/>
            <a:ext cx="457200" cy="64008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3825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300" b="0">
                <a:solidFill>
                  <a:srgbClr val="8A93A0"/>
                </a:solidFill>
                <a:latin typeface="Thmanyah Sans"/>
                <a:ea typeface="Thmanyah Sans"/>
                <a:cs typeface="Thmanyah Sans"/>
              </a:rPr>
              <a:t>6 /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0160" y="63825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FD8C4"/>
                </a:solidFill>
                <a:latin typeface="Consolas"/>
                <a:ea typeface="Consolas"/>
                <a:cs typeface="Consolas"/>
              </a:rPr>
              <a:t>@Ahmed014x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uwai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2608"/>
            <a:ext cx="1059128" cy="457200"/>
          </a:xfrm>
          <a:prstGeom prst="rect">
            <a:avLst/>
          </a:prstGeom>
        </p:spPr>
      </p:pic>
      <p:pic>
        <p:nvPicPr>
          <p:cNvPr id="4" name="Picture 3" descr="logo-mark-1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880" y="292608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0584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600" b="1">
                <a:solidFill>
                  <a:srgbClr val="4FD8C4"/>
                </a:solidFill>
                <a:latin typeface="Thmanyah Sans"/>
                <a:ea typeface="Thmanyah Sans"/>
                <a:cs typeface="Thmanyah Sans"/>
              </a:rPr>
              <a:t>06  ·  المشاريع</a:t>
            </a:r>
          </a:p>
          <a:p>
            <a:pPr rtl="1" algn="r">
              <a:spcAft>
                <a:spcPts val="800"/>
              </a:spcAft>
            </a:pPr>
            <a:r>
              <a:rPr sz="3600" b="1">
                <a:solidFill>
                  <a:srgbClr val="F2F4F6"/>
                </a:solidFill>
                <a:latin typeface="Thmanyah Sans"/>
                <a:ea typeface="Thmanyah Sans"/>
                <a:cs typeface="Thmanyah Sans"/>
              </a:rPr>
              <a:t>نماذج من الشغل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17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313432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1A3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500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FD8C4"/>
                </a:solidFill>
                <a:latin typeface="Thmanyah Sans"/>
                <a:ea typeface="Thmanyah Sans"/>
                <a:cs typeface="Thmanyah Sans"/>
              </a:rPr>
              <a:t>مشروع تخرج — طويق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1945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2000" b="1">
                <a:solidFill>
                  <a:srgbClr val="F2F4F6"/>
                </a:solidFill>
                <a:latin typeface="Thmanyah Sans"/>
                <a:ea typeface="Thmanyah Sans"/>
                <a:cs typeface="Thmanyah Sans"/>
              </a:rPr>
              <a:t>أتقنها</a:t>
            </a:r>
          </a:p>
          <a:p>
            <a:pPr rtl="1" algn="r">
              <a:spcAft>
                <a:spcPts val="800"/>
              </a:spcAft>
            </a:pPr>
            <a:r>
              <a:rPr sz="1400" b="0">
                <a:solidFill>
                  <a:srgbClr val="8A93A0"/>
                </a:solidFill>
                <a:latin typeface="Thmanyah Sans"/>
                <a:ea typeface="Thmanyah Sans"/>
                <a:cs typeface="Thmanyah Sans"/>
              </a:rPr>
              <a:t>علاج طبيعي منزلي برؤية حاسوبية ومساعد ChatGPT.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0896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17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3364992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1A3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401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FD8C4"/>
                </a:solidFill>
                <a:latin typeface="Thmanyah Sans"/>
                <a:ea typeface="Thmanyah Sans"/>
                <a:cs typeface="Thmanyah Sans"/>
              </a:rPr>
              <a:t>أفضل 15 — هاكاثون أبشر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24612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2000" b="1">
                <a:solidFill>
                  <a:srgbClr val="F2F4F6"/>
                </a:solidFill>
                <a:latin typeface="Thmanyah Sans"/>
                <a:ea typeface="Thmanyah Sans"/>
                <a:cs typeface="Thmanyah Sans"/>
              </a:rPr>
              <a:t>رصد (RASD)</a:t>
            </a:r>
          </a:p>
          <a:p>
            <a:pPr rtl="1" algn="r">
              <a:spcAft>
                <a:spcPts val="800"/>
              </a:spcAft>
            </a:pPr>
            <a:r>
              <a:rPr sz="1400" b="0">
                <a:solidFill>
                  <a:srgbClr val="8A93A0"/>
                </a:solidFill>
                <a:latin typeface="Thmanyah Sans"/>
                <a:ea typeface="Thmanyah Sans"/>
                <a:cs typeface="Thmanyah Sans"/>
              </a:rPr>
              <a:t>سرب درون + YOLOv8 لكشف التهديدات في الأمن الحرج.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6052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17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4416552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1A3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531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FD8C4"/>
                </a:solidFill>
                <a:latin typeface="Thmanyah Sans"/>
                <a:ea typeface="Thmanyah Sans"/>
                <a:cs typeface="Thmanyah Sans"/>
              </a:rPr>
              <a:t>الكراج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29768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2000" b="1">
                <a:solidFill>
                  <a:srgbClr val="F2F4F6"/>
                </a:solidFill>
                <a:latin typeface="Thmanyah Sans"/>
                <a:ea typeface="Thmanyah Sans"/>
                <a:cs typeface="Thmanyah Sans"/>
              </a:rPr>
              <a:t>منصّة الدرون</a:t>
            </a:r>
          </a:p>
          <a:p>
            <a:pPr rtl="1" algn="r">
              <a:spcAft>
                <a:spcPts val="800"/>
              </a:spcAft>
            </a:pPr>
            <a:r>
              <a:rPr sz="1400" b="0">
                <a:solidFill>
                  <a:srgbClr val="8A93A0"/>
                </a:solidFill>
                <a:latin typeface="Thmanyah Sans"/>
                <a:ea typeface="Thmanyah Sans"/>
                <a:cs typeface="Thmanyah Sans"/>
              </a:rPr>
              <a:t>مسارات ذكاء اصطناعي للمنصّة من الفكرة لين التجربة.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14760" y="6419088"/>
            <a:ext cx="457200" cy="64008"/>
          </a:xfrm>
          <a:prstGeom prst="roundRect">
            <a:avLst/>
          </a:prstGeom>
          <a:solidFill>
            <a:srgbClr val="4F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231880" y="6547104"/>
            <a:ext cx="457200" cy="64008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3825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300" b="0">
                <a:solidFill>
                  <a:srgbClr val="8A93A0"/>
                </a:solidFill>
                <a:latin typeface="Thmanyah Sans"/>
                <a:ea typeface="Thmanyah Sans"/>
                <a:cs typeface="Thmanyah Sans"/>
              </a:rPr>
              <a:t>7 /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0160" y="63825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FD8C4"/>
                </a:solidFill>
                <a:latin typeface="Consolas"/>
                <a:ea typeface="Consolas"/>
                <a:cs typeface="Consolas"/>
              </a:rPr>
              <a:t>@Ahmed014x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uwai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1480"/>
            <a:ext cx="1165040" cy="502920"/>
          </a:xfrm>
          <a:prstGeom prst="rect">
            <a:avLst/>
          </a:prstGeom>
        </p:spPr>
      </p:pic>
      <p:pic>
        <p:nvPicPr>
          <p:cNvPr id="4" name="Picture 3" descr="logo-mark-1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0" y="41148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6916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2F4F6"/>
                </a:solidFill>
                <a:latin typeface="Thmanyah Sans"/>
                <a:ea typeface="Thmanyah Sans"/>
                <a:cs typeface="Thmanyah Sans"/>
              </a:rPr>
              <a:t>خلّنا نكمّل الحديث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1460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A93A0"/>
                </a:solidFill>
                <a:latin typeface="Thmanyah Sans"/>
                <a:ea typeface="Thmanyah Sans"/>
                <a:cs typeface="Thmanyah Sans"/>
              </a:rPr>
              <a:t>شكراً لأكاديمية طويق — ولحضوركم.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91840"/>
            <a:ext cx="3291840" cy="1325880"/>
          </a:xfrm>
          <a:prstGeom prst="roundRect">
            <a:avLst>
              <a:gd name="adj" fmla="val 10000"/>
            </a:avLst>
          </a:prstGeom>
          <a:solidFill>
            <a:srgbClr val="17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FD8C4"/>
                </a:solidFill>
                <a:latin typeface="Thmanyah Sans"/>
                <a:ea typeface="Thmanyah Sans"/>
                <a:cs typeface="Thmanyah Sans"/>
              </a:rPr>
              <a:t>إيميل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2F4F6"/>
                </a:solidFill>
                <a:latin typeface="Thmanyah Sans"/>
                <a:ea typeface="Thmanyah Sans"/>
                <a:cs typeface="Thmanyah Sans"/>
              </a:rPr>
              <a:t>ahmednalharbii@gmail.com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3291840"/>
            <a:ext cx="3291840" cy="1325880"/>
          </a:xfrm>
          <a:prstGeom prst="roundRect">
            <a:avLst>
              <a:gd name="adj" fmla="val 10000"/>
            </a:avLst>
          </a:prstGeom>
          <a:solidFill>
            <a:srgbClr val="17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3520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FD8C4"/>
                </a:solidFill>
                <a:latin typeface="Thmanyah Sans"/>
                <a:ea typeface="Thmanyah Sans"/>
                <a:cs typeface="Thmanyah Sans"/>
              </a:rPr>
              <a:t>جوال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931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2F4F6"/>
                </a:solidFill>
                <a:latin typeface="Consolas"/>
                <a:ea typeface="Consolas"/>
                <a:cs typeface="Consolas"/>
              </a:rPr>
              <a:t>+966 54 096 6063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291840"/>
            <a:ext cx="3291840" cy="1325880"/>
          </a:xfrm>
          <a:prstGeom prst="roundRect">
            <a:avLst>
              <a:gd name="adj" fmla="val 10000"/>
            </a:avLst>
          </a:prstGeom>
          <a:solidFill>
            <a:srgbClr val="17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3520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FD8C4"/>
                </a:solidFill>
                <a:latin typeface="Thmanyah Sans"/>
                <a:ea typeface="Thmanyah Sans"/>
                <a:cs typeface="Thmanyah Sans"/>
              </a:rPr>
              <a:t>حسابات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931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2F4F6"/>
                </a:solidFill>
                <a:latin typeface="Consolas"/>
                <a:ea typeface="Consolas"/>
                <a:cs typeface="Consolas"/>
              </a:rPr>
              <a:t>@Ahmed014x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02920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A93A0"/>
                </a:solidFill>
                <a:latin typeface="Thmanyah Sans"/>
                <a:ea typeface="Thmanyah Sans"/>
                <a:cs typeface="Thmanyah Sans"/>
              </a:rPr>
              <a:t>LinkedIn · X · Instagram · GitHub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14760" y="6419088"/>
            <a:ext cx="457200" cy="64008"/>
          </a:xfrm>
          <a:prstGeom prst="roundRect">
            <a:avLst/>
          </a:prstGeom>
          <a:solidFill>
            <a:srgbClr val="4F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1231880" y="6547104"/>
            <a:ext cx="457200" cy="64008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3825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300" b="0">
                <a:solidFill>
                  <a:srgbClr val="8A93A0"/>
                </a:solidFill>
                <a:latin typeface="Thmanyah Sans"/>
                <a:ea typeface="Thmanyah Sans"/>
                <a:cs typeface="Thmanyah Sans"/>
              </a:rPr>
              <a:t>8 /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0160" y="63825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FD8C4"/>
                </a:solidFill>
                <a:latin typeface="Consolas"/>
                <a:ea typeface="Consolas"/>
                <a:cs typeface="Consolas"/>
              </a:rPr>
              <a:t>@Ahmed014x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